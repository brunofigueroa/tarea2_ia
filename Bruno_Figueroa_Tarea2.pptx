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obo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22dc75a4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22dc75a4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22dc75a43_0_1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22dc75a43_0_1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22dc75a43_0_1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22dc75a43_0_1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22dc75a43_0_1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22dc75a43_0_1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22dc75a43_0_1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22dc75a43_0_1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22dc75a43_0_1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22dc75a43_0_1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22dc75a43_0_1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22dc75a43_0_1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22dc75a43_0_1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22dc75a43_0_1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22dc75a43_0_1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22dc75a43_0_1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22dc75a43_0_1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22dc75a43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22dc75a43_0_1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22dc75a43_0_1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22dc75a43_0_1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22dc75a43_0_1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22dc75a43_0_1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22dc75a43_0_1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22dc75a43_0_1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22dc75a43_0_1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22dc75a43_0_1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22dc75a43_0_1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22dc75a43_0_1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22dc75a43_0_1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22dc75a43_0_1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22dc75a43_0_1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22dc75a43_0_1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22dc75a43_0_1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22dc75a43_0_1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22dc75a43_0_1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22dc75a43_0_1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22dc75a43_0_1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22dc75a43_0_1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22dc75a43_0_1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22dc75a43_0_1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22dc75a43_0_1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22dc75a43_0_1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a22dc75a43_0_1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22dc75a43_0_1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a22dc75a43_0_1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22dc75a43_0_1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a22dc75a43_0_1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22dc75a43_0_1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a22dc75a43_0_1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22dc75a43_0_1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a22dc75a43_0_1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22dc75a43_0_1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a22dc75a43_0_1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rchive.ics.uci.edu/dataset/31/covertype" TargetMode="Externa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0.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Tarea 2 IA</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Bruno Figueroa</a:t>
            </a:r>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Introducción</a:t>
            </a:r>
            <a:endParaRPr/>
          </a:p>
        </p:txBody>
      </p:sp>
      <p:pic>
        <p:nvPicPr>
          <p:cNvPr id="92" name="Google Shape;92;p14"/>
          <p:cNvPicPr preferRelativeResize="0"/>
          <p:nvPr/>
        </p:nvPicPr>
        <p:blipFill>
          <a:blip r:embed="rId3">
            <a:alphaModFix/>
          </a:blip>
          <a:stretch>
            <a:fillRect/>
          </a:stretch>
        </p:blipFill>
        <p:spPr>
          <a:xfrm>
            <a:off x="174850" y="1479175"/>
            <a:ext cx="3429000" cy="1657350"/>
          </a:xfrm>
          <a:prstGeom prst="rect">
            <a:avLst/>
          </a:prstGeom>
          <a:noFill/>
          <a:ln>
            <a:noFill/>
          </a:ln>
        </p:spPr>
      </p:pic>
      <p:pic>
        <p:nvPicPr>
          <p:cNvPr id="93" name="Google Shape;93;p14"/>
          <p:cNvPicPr preferRelativeResize="0"/>
          <p:nvPr/>
        </p:nvPicPr>
        <p:blipFill>
          <a:blip r:embed="rId4">
            <a:alphaModFix/>
          </a:blip>
          <a:stretch>
            <a:fillRect/>
          </a:stretch>
        </p:blipFill>
        <p:spPr>
          <a:xfrm>
            <a:off x="3707350" y="1951250"/>
            <a:ext cx="5124949" cy="364950"/>
          </a:xfrm>
          <a:prstGeom prst="rect">
            <a:avLst/>
          </a:prstGeom>
          <a:noFill/>
          <a:ln>
            <a:noFill/>
          </a:ln>
        </p:spPr>
      </p:pic>
      <p:pic>
        <p:nvPicPr>
          <p:cNvPr id="94" name="Google Shape;94;p14"/>
          <p:cNvPicPr preferRelativeResize="0"/>
          <p:nvPr/>
        </p:nvPicPr>
        <p:blipFill>
          <a:blip r:embed="rId5">
            <a:alphaModFix/>
          </a:blip>
          <a:stretch>
            <a:fillRect/>
          </a:stretch>
        </p:blipFill>
        <p:spPr>
          <a:xfrm>
            <a:off x="3707357" y="2571746"/>
            <a:ext cx="5316194" cy="364950"/>
          </a:xfrm>
          <a:prstGeom prst="rect">
            <a:avLst/>
          </a:prstGeom>
          <a:noFill/>
          <a:ln>
            <a:noFill/>
          </a:ln>
        </p:spPr>
      </p:pic>
    </p:spTree>
  </p:cSld>
  <p:clrMapOvr>
    <a:masterClrMapping/>
  </p:clrMapOvr>
  <p:transition spd="med">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Google colab / Jupyter notebook / python</a:t>
            </a:r>
            <a:endParaRPr/>
          </a:p>
        </p:txBody>
      </p:sp>
      <p:pic>
        <p:nvPicPr>
          <p:cNvPr id="100" name="Google Shape;100;p15"/>
          <p:cNvPicPr preferRelativeResize="0"/>
          <p:nvPr/>
        </p:nvPicPr>
        <p:blipFill>
          <a:blip r:embed="rId3">
            <a:alphaModFix/>
          </a:blip>
          <a:stretch>
            <a:fillRect/>
          </a:stretch>
        </p:blipFill>
        <p:spPr>
          <a:xfrm>
            <a:off x="4859213" y="2374225"/>
            <a:ext cx="3789250" cy="914650"/>
          </a:xfrm>
          <a:prstGeom prst="rect">
            <a:avLst/>
          </a:prstGeom>
          <a:noFill/>
          <a:ln>
            <a:noFill/>
          </a:ln>
        </p:spPr>
      </p:pic>
      <p:pic>
        <p:nvPicPr>
          <p:cNvPr id="101" name="Google Shape;101;p15"/>
          <p:cNvPicPr preferRelativeResize="0"/>
          <p:nvPr/>
        </p:nvPicPr>
        <p:blipFill rotWithShape="1">
          <a:blip r:embed="rId4">
            <a:alphaModFix/>
          </a:blip>
          <a:srcRect b="0" l="0" r="47514" t="0"/>
          <a:stretch/>
        </p:blipFill>
        <p:spPr>
          <a:xfrm>
            <a:off x="4740425" y="1300025"/>
            <a:ext cx="4026824" cy="791975"/>
          </a:xfrm>
          <a:prstGeom prst="rect">
            <a:avLst/>
          </a:prstGeom>
          <a:noFill/>
          <a:ln>
            <a:noFill/>
          </a:ln>
        </p:spPr>
      </p:pic>
      <p:sp>
        <p:nvSpPr>
          <p:cNvPr id="102" name="Google Shape;102;p15"/>
          <p:cNvSpPr txBox="1"/>
          <p:nvPr>
            <p:ph idx="1" type="body"/>
          </p:nvPr>
        </p:nvSpPr>
        <p:spPr>
          <a:xfrm>
            <a:off x="311700" y="1229875"/>
            <a:ext cx="34539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No se utilizo google colab, ya que no me deja importar archivos para la configuración (necesario en el punto 2).</a:t>
            </a:r>
            <a:endParaRPr/>
          </a:p>
          <a:p>
            <a:pPr indent="0" lvl="0" marL="0" rtl="0" algn="l">
              <a:spcBef>
                <a:spcPts val="1200"/>
              </a:spcBef>
              <a:spcAft>
                <a:spcPts val="1200"/>
              </a:spcAft>
              <a:buNone/>
            </a:pPr>
            <a:r>
              <a:rPr lang="es"/>
              <a:t>Se utilizo python para crear el </a:t>
            </a:r>
            <a:r>
              <a:rPr lang="es"/>
              <a:t>código</a:t>
            </a:r>
            <a:r>
              <a:rPr lang="es"/>
              <a:t> inicialmente, luego se creo el archivo ipynb en </a:t>
            </a:r>
            <a:r>
              <a:rPr lang="es"/>
              <a:t>júpiter</a:t>
            </a:r>
            <a:r>
              <a:rPr lang="es"/>
              <a:t> notebook</a:t>
            </a:r>
            <a:endParaRPr/>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Dataset utilizado “Covertype dataset”</a:t>
            </a:r>
            <a:endParaRPr/>
          </a:p>
        </p:txBody>
      </p:sp>
      <p:sp>
        <p:nvSpPr>
          <p:cNvPr id="108" name="Google Shape;108;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u="sng">
                <a:solidFill>
                  <a:schemeClr val="hlink"/>
                </a:solidFill>
                <a:hlinkClick r:id="rId3"/>
              </a:rPr>
              <a:t>https://archive.ics.uci.edu/dataset/31/covertype</a:t>
            </a:r>
            <a:endParaRPr/>
          </a:p>
          <a:p>
            <a:pPr indent="0" lvl="0" marL="0" rtl="0" algn="l">
              <a:spcBef>
                <a:spcPts val="1200"/>
              </a:spcBef>
              <a:spcAft>
                <a:spcPts val="0"/>
              </a:spcAft>
              <a:buNone/>
            </a:pPr>
            <a:r>
              <a:rPr lang="es"/>
              <a:t>580k filas (truncadas a 10k).</a:t>
            </a:r>
            <a:endParaRPr/>
          </a:p>
          <a:p>
            <a:pPr indent="0" lvl="0" marL="0" rtl="0" algn="l">
              <a:spcBef>
                <a:spcPts val="1200"/>
              </a:spcBef>
              <a:spcAft>
                <a:spcPts val="0"/>
              </a:spcAft>
              <a:buNone/>
            </a:pPr>
            <a:r>
              <a:rPr lang="es"/>
              <a:t>54 features, se utilizan 53 </a:t>
            </a:r>
            <a:r>
              <a:rPr lang="es"/>
              <a:t>cómo</a:t>
            </a:r>
            <a:r>
              <a:rPr lang="es"/>
              <a:t> features, y la </a:t>
            </a:r>
            <a:r>
              <a:rPr lang="es"/>
              <a:t>última</a:t>
            </a:r>
            <a:r>
              <a:rPr lang="es"/>
              <a:t> como etiqueta discreta de 7 clases.</a:t>
            </a:r>
            <a:endParaRPr/>
          </a:p>
          <a:p>
            <a:pPr indent="0" lvl="0" marL="0" rtl="0" algn="l">
              <a:spcBef>
                <a:spcPts val="1200"/>
              </a:spcBef>
              <a:spcAft>
                <a:spcPts val="1200"/>
              </a:spcAft>
              <a:buNone/>
            </a:pPr>
            <a:br>
              <a:rPr lang="es"/>
            </a:br>
            <a:endParaRPr/>
          </a:p>
        </p:txBody>
      </p:sp>
      <p:pic>
        <p:nvPicPr>
          <p:cNvPr id="109" name="Google Shape;109;p16"/>
          <p:cNvPicPr preferRelativeResize="0"/>
          <p:nvPr/>
        </p:nvPicPr>
        <p:blipFill>
          <a:blip r:embed="rId4">
            <a:alphaModFix/>
          </a:blip>
          <a:stretch>
            <a:fillRect/>
          </a:stretch>
        </p:blipFill>
        <p:spPr>
          <a:xfrm>
            <a:off x="1601204" y="2658300"/>
            <a:ext cx="5941576" cy="2009475"/>
          </a:xfrm>
          <a:prstGeom prst="rect">
            <a:avLst/>
          </a:prstGeom>
          <a:noFill/>
          <a:ln>
            <a:noFill/>
          </a:ln>
        </p:spPr>
      </p:pic>
    </p:spTree>
  </p:cSld>
  <p:clrMapOvr>
    <a:masterClrMapping/>
  </p:clrMapOvr>
  <p:transition spd="med">
    <p:push dir="r"/>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Codigo cargar dataset</a:t>
            </a:r>
            <a:endParaRPr/>
          </a:p>
        </p:txBody>
      </p:sp>
      <p:pic>
        <p:nvPicPr>
          <p:cNvPr id="115" name="Google Shape;115;p17"/>
          <p:cNvPicPr preferRelativeResize="0"/>
          <p:nvPr/>
        </p:nvPicPr>
        <p:blipFill rotWithShape="1">
          <a:blip r:embed="rId3">
            <a:alphaModFix/>
          </a:blip>
          <a:srcRect b="36037" l="0" r="68443" t="21309"/>
          <a:stretch/>
        </p:blipFill>
        <p:spPr>
          <a:xfrm>
            <a:off x="1451500" y="1781550"/>
            <a:ext cx="2885549" cy="1774900"/>
          </a:xfrm>
          <a:prstGeom prst="rect">
            <a:avLst/>
          </a:prstGeom>
          <a:noFill/>
          <a:ln>
            <a:noFill/>
          </a:ln>
        </p:spPr>
      </p:pic>
      <p:pic>
        <p:nvPicPr>
          <p:cNvPr id="116" name="Google Shape;116;p17"/>
          <p:cNvPicPr preferRelativeResize="0"/>
          <p:nvPr/>
        </p:nvPicPr>
        <p:blipFill rotWithShape="1">
          <a:blip r:embed="rId3">
            <a:alphaModFix/>
          </a:blip>
          <a:srcRect b="0" l="0" r="68443" t="63420"/>
          <a:stretch/>
        </p:blipFill>
        <p:spPr>
          <a:xfrm>
            <a:off x="4835750" y="1976575"/>
            <a:ext cx="2885549" cy="1522125"/>
          </a:xfrm>
          <a:prstGeom prst="rect">
            <a:avLst/>
          </a:prstGeom>
          <a:noFill/>
          <a:ln>
            <a:noFill/>
          </a:ln>
        </p:spPr>
      </p:pic>
    </p:spTree>
  </p:cSld>
  <p:clrMapOvr>
    <a:masterClrMapping/>
  </p:clrMapOvr>
  <mc:AlternateContent>
    <mc:Choice Requires="p14">
      <p:transition spd="med">
        <p14:flip dir="l"/>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Punto 1</a:t>
            </a:r>
            <a:endParaRPr/>
          </a:p>
        </p:txBody>
      </p:sp>
      <p:sp>
        <p:nvSpPr>
          <p:cNvPr id="122" name="Google Shape;122;p18"/>
          <p:cNvSpPr txBox="1"/>
          <p:nvPr>
            <p:ph idx="1" type="body"/>
          </p:nvPr>
        </p:nvSpPr>
        <p:spPr>
          <a:xfrm>
            <a:off x="311700" y="1229875"/>
            <a:ext cx="8520600" cy="2672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s"/>
              <a:t>Deberá ejecutar tres algoritmos de clustering: K-Means, K-Means++ y MeanShift, utilizando al menos cuatro configuraciones distintas para cada técnica (deberá justificar la elección de parámetros).</a:t>
            </a:r>
            <a:endParaRPr/>
          </a:p>
          <a:p>
            <a:pPr indent="0" lvl="0" marL="0" rtl="0" algn="l">
              <a:spcBef>
                <a:spcPts val="1200"/>
              </a:spcBef>
              <a:spcAft>
                <a:spcPts val="0"/>
              </a:spcAft>
              <a:buNone/>
            </a:pPr>
            <a:r>
              <a:rPr lang="es"/>
              <a:t>Para el entrenamiento, use únicamente el 80% de los datos, omitiendo la etiqueta Y. </a:t>
            </a:r>
            <a:endParaRPr/>
          </a:p>
          <a:p>
            <a:pPr indent="0" lvl="0" marL="0" rtl="0" algn="l">
              <a:spcBef>
                <a:spcPts val="1200"/>
              </a:spcBef>
              <a:spcAft>
                <a:spcPts val="0"/>
              </a:spcAft>
              <a:buNone/>
            </a:pPr>
            <a:r>
              <a:rPr lang="es"/>
              <a:t>A continuación, evalúe las doce configuraciones obtenidas mediante una métrica de su elección (por ejemplo, Silhouette Score) y seleccione las tres de mejor desempeño. </a:t>
            </a:r>
            <a:endParaRPr/>
          </a:p>
          <a:p>
            <a:pPr indent="0" lvl="0" marL="0" rtl="0" algn="l">
              <a:spcBef>
                <a:spcPts val="1200"/>
              </a:spcBef>
              <a:spcAft>
                <a:spcPts val="0"/>
              </a:spcAft>
              <a:buNone/>
            </a:pPr>
            <a:r>
              <a:rPr lang="es"/>
              <a:t>Luego, aplique cada una de estas configuraciones al 20% restante de los datos, asignando a cada muestra el cluster correspondiente (obtenidos desde el entrenamiento). </a:t>
            </a:r>
            <a:endParaRPr/>
          </a:p>
          <a:p>
            <a:pPr indent="0" lvl="0" marL="0" rtl="0" algn="l">
              <a:spcBef>
                <a:spcPts val="1200"/>
              </a:spcBef>
              <a:spcAft>
                <a:spcPts val="1200"/>
              </a:spcAft>
              <a:buNone/>
            </a:pPr>
            <a:r>
              <a:rPr lang="es"/>
              <a:t>Finalmente, compare la etiqueta Y real de cada muestra con la etiqueta dominante dentro del cluster al que pertenece y analice si este procedimiento resulta razonable para asignar etiquetas faltantes.</a:t>
            </a:r>
            <a:endParaRPr/>
          </a:p>
        </p:txBody>
      </p:sp>
    </p:spTree>
  </p:cSld>
  <p:clrMapOvr>
    <a:masterClrMapping/>
  </p:clrMapOvr>
  <mc:AlternateContent>
    <mc:Choice Requires="p14">
      <p:transition spd="med">
        <p14:prism dir="l"/>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K-Means</a:t>
            </a:r>
            <a:endParaRPr/>
          </a:p>
        </p:txBody>
      </p:sp>
      <p:sp>
        <p:nvSpPr>
          <p:cNvPr id="128" name="Google Shape;128;p1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K-means, posiciona n centroides aleatoriamente y se mueve hacia el centro de los datos.</a:t>
            </a:r>
            <a:endParaRPr/>
          </a:p>
          <a:p>
            <a:pPr indent="0" lvl="0" marL="0" rtl="0" algn="l">
              <a:spcBef>
                <a:spcPts val="1200"/>
              </a:spcBef>
              <a:spcAft>
                <a:spcPts val="1200"/>
              </a:spcAft>
              <a:buNone/>
            </a:pPr>
            <a:r>
              <a:rPr lang="es"/>
              <a:t>Tiene como </a:t>
            </a:r>
            <a:r>
              <a:rPr lang="es"/>
              <a:t>parámetros</a:t>
            </a:r>
            <a:r>
              <a:rPr lang="es"/>
              <a:t>, la cantidad de centroides, la cantidad de iteraciones, y la cantidad de repeticiones del experimento, la </a:t>
            </a:r>
            <a:r>
              <a:rPr lang="es"/>
              <a:t>métrica</a:t>
            </a:r>
            <a:r>
              <a:rPr lang="es"/>
              <a:t> </a:t>
            </a:r>
            <a:r>
              <a:rPr lang="es"/>
              <a:t>más</a:t>
            </a:r>
            <a:r>
              <a:rPr lang="es"/>
              <a:t> importante es la cantidad de centroides.</a:t>
            </a:r>
            <a:endParaRPr/>
          </a:p>
        </p:txBody>
      </p:sp>
      <p:pic>
        <p:nvPicPr>
          <p:cNvPr id="129" name="Google Shape;129;p19"/>
          <p:cNvPicPr preferRelativeResize="0"/>
          <p:nvPr/>
        </p:nvPicPr>
        <p:blipFill>
          <a:blip r:embed="rId3">
            <a:alphaModFix/>
          </a:blip>
          <a:stretch>
            <a:fillRect/>
          </a:stretch>
        </p:blipFill>
        <p:spPr>
          <a:xfrm>
            <a:off x="4447775" y="2925175"/>
            <a:ext cx="4104699" cy="1710300"/>
          </a:xfrm>
          <a:prstGeom prst="rect">
            <a:avLst/>
          </a:prstGeom>
          <a:noFill/>
          <a:ln>
            <a:noFill/>
          </a:ln>
        </p:spPr>
      </p:pic>
    </p:spTree>
  </p:cSld>
  <p:clrMapOvr>
    <a:masterClrMapping/>
  </p:clrMapOvr>
  <mc:AlternateContent>
    <mc:Choice Requires="p14">
      <p:transition spd="med">
        <p14:gallery dir="l"/>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0"/>
          <p:cNvPicPr preferRelativeResize="0"/>
          <p:nvPr/>
        </p:nvPicPr>
        <p:blipFill>
          <a:blip r:embed="rId3">
            <a:alphaModFix/>
          </a:blip>
          <a:stretch>
            <a:fillRect/>
          </a:stretch>
        </p:blipFill>
        <p:spPr>
          <a:xfrm>
            <a:off x="271450" y="3966775"/>
            <a:ext cx="8601075" cy="1047750"/>
          </a:xfrm>
          <a:prstGeom prst="rect">
            <a:avLst/>
          </a:prstGeom>
          <a:noFill/>
          <a:ln>
            <a:noFill/>
          </a:ln>
        </p:spPr>
      </p:pic>
      <p:pic>
        <p:nvPicPr>
          <p:cNvPr id="135" name="Google Shape;135;p20"/>
          <p:cNvPicPr preferRelativeResize="0"/>
          <p:nvPr/>
        </p:nvPicPr>
        <p:blipFill rotWithShape="1">
          <a:blip r:embed="rId4">
            <a:alphaModFix/>
          </a:blip>
          <a:srcRect b="0" l="0" r="46004" t="17108"/>
          <a:stretch/>
        </p:blipFill>
        <p:spPr>
          <a:xfrm>
            <a:off x="2823894" y="227825"/>
            <a:ext cx="4115876" cy="3738949"/>
          </a:xfrm>
          <a:prstGeom prst="rect">
            <a:avLst/>
          </a:prstGeom>
          <a:noFill/>
          <a:ln>
            <a:noFill/>
          </a:ln>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K-Means++</a:t>
            </a:r>
            <a:endParaRPr/>
          </a:p>
        </p:txBody>
      </p:sp>
      <p:sp>
        <p:nvSpPr>
          <p:cNvPr id="141" name="Google Shape;141;p21"/>
          <p:cNvSpPr txBox="1"/>
          <p:nvPr>
            <p:ph idx="1" type="body"/>
          </p:nvPr>
        </p:nvSpPr>
        <p:spPr>
          <a:xfrm>
            <a:off x="311700" y="1229875"/>
            <a:ext cx="8520600" cy="1395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s"/>
              <a:t>Es lo mismo que K-means, pero se cambia “Random” por “k-means++” en la </a:t>
            </a:r>
            <a:r>
              <a:rPr lang="es"/>
              <a:t>configuración</a:t>
            </a:r>
            <a:r>
              <a:rPr lang="es"/>
              <a:t>, esto cambia la </a:t>
            </a:r>
            <a:r>
              <a:rPr lang="es"/>
              <a:t>implementación</a:t>
            </a:r>
            <a:r>
              <a:rPr lang="es"/>
              <a:t> de elegir 3 centroides aleatorios, a elegir el primer centroide aleatoriamente, y los </a:t>
            </a:r>
            <a:r>
              <a:rPr lang="es"/>
              <a:t>demás</a:t>
            </a:r>
            <a:r>
              <a:rPr lang="es"/>
              <a:t>, en base a la </a:t>
            </a:r>
            <a:r>
              <a:rPr lang="es"/>
              <a:t>medición</a:t>
            </a:r>
            <a:r>
              <a:rPr lang="es"/>
              <a:t> de los puntos al centroide inicial, asignando “mejores” centroides.</a:t>
            </a:r>
            <a:endParaRPr/>
          </a:p>
        </p:txBody>
      </p:sp>
      <p:pic>
        <p:nvPicPr>
          <p:cNvPr id="142" name="Google Shape;142;p21"/>
          <p:cNvPicPr preferRelativeResize="0"/>
          <p:nvPr/>
        </p:nvPicPr>
        <p:blipFill>
          <a:blip r:embed="rId3">
            <a:alphaModFix/>
          </a:blip>
          <a:stretch>
            <a:fillRect/>
          </a:stretch>
        </p:blipFill>
        <p:spPr>
          <a:xfrm>
            <a:off x="2112638" y="3083588"/>
            <a:ext cx="3057525" cy="1495425"/>
          </a:xfrm>
          <a:prstGeom prst="rect">
            <a:avLst/>
          </a:prstGeom>
          <a:noFill/>
          <a:ln>
            <a:noFill/>
          </a:ln>
        </p:spPr>
      </p:pic>
      <p:sp>
        <p:nvSpPr>
          <p:cNvPr id="143" name="Google Shape;143;p21"/>
          <p:cNvSpPr txBox="1"/>
          <p:nvPr>
            <p:ph idx="1" type="body"/>
          </p:nvPr>
        </p:nvSpPr>
        <p:spPr>
          <a:xfrm>
            <a:off x="1950913" y="2625775"/>
            <a:ext cx="3381000" cy="709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Ejemplo de malos centroides.</a:t>
            </a:r>
            <a:endParaRPr/>
          </a:p>
        </p:txBody>
      </p:sp>
    </p:spTree>
  </p:cSld>
  <p:clrMapOvr>
    <a:masterClrMapping/>
  </p:clrMapOvr>
  <p:transition spd="med">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2"/>
          <p:cNvPicPr preferRelativeResize="0"/>
          <p:nvPr/>
        </p:nvPicPr>
        <p:blipFill rotWithShape="1">
          <a:blip r:embed="rId3">
            <a:alphaModFix/>
          </a:blip>
          <a:srcRect b="0" l="0" r="44616" t="22197"/>
          <a:stretch/>
        </p:blipFill>
        <p:spPr>
          <a:xfrm>
            <a:off x="1947750" y="252500"/>
            <a:ext cx="5064150" cy="3300575"/>
          </a:xfrm>
          <a:prstGeom prst="rect">
            <a:avLst/>
          </a:prstGeom>
          <a:noFill/>
          <a:ln>
            <a:noFill/>
          </a:ln>
        </p:spPr>
      </p:pic>
      <p:pic>
        <p:nvPicPr>
          <p:cNvPr id="149" name="Google Shape;149;p22"/>
          <p:cNvPicPr preferRelativeResize="0"/>
          <p:nvPr/>
        </p:nvPicPr>
        <p:blipFill>
          <a:blip r:embed="rId4">
            <a:alphaModFix/>
          </a:blip>
          <a:stretch>
            <a:fillRect/>
          </a:stretch>
        </p:blipFill>
        <p:spPr>
          <a:xfrm>
            <a:off x="147625" y="3480913"/>
            <a:ext cx="8848725" cy="1114425"/>
          </a:xfrm>
          <a:prstGeom prst="rect">
            <a:avLst/>
          </a:prstGeom>
          <a:noFill/>
          <a:ln>
            <a:noFill/>
          </a:ln>
        </p:spPr>
      </p:pic>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MeanShift</a:t>
            </a:r>
            <a:endParaRPr/>
          </a:p>
        </p:txBody>
      </p:sp>
      <p:sp>
        <p:nvSpPr>
          <p:cNvPr id="155" name="Google Shape;155;p2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Mean shift, a diferencia de kmeans, llena todo el espacio con centroides, y los fusiona cuando </a:t>
            </a:r>
            <a:r>
              <a:rPr lang="es"/>
              <a:t>están</a:t>
            </a:r>
            <a:r>
              <a:rPr lang="es"/>
              <a:t> suficientemente cerca.</a:t>
            </a:r>
            <a:endParaRPr/>
          </a:p>
          <a:p>
            <a:pPr indent="0" lvl="0" marL="0" rtl="0" algn="l">
              <a:spcBef>
                <a:spcPts val="1200"/>
              </a:spcBef>
              <a:spcAft>
                <a:spcPts val="1200"/>
              </a:spcAft>
              <a:buNone/>
            </a:pPr>
            <a:r>
              <a:rPr lang="es"/>
              <a:t>El </a:t>
            </a:r>
            <a:r>
              <a:rPr lang="es"/>
              <a:t>parámetro</a:t>
            </a:r>
            <a:r>
              <a:rPr lang="es"/>
              <a:t> a modificar en este caso es el bandwith, que es la distancia para que se fusionen los centroides.</a:t>
            </a:r>
            <a:endParaRPr/>
          </a:p>
        </p:txBody>
      </p:sp>
      <p:pic>
        <p:nvPicPr>
          <p:cNvPr id="156" name="Google Shape;156;p23"/>
          <p:cNvPicPr preferRelativeResize="0"/>
          <p:nvPr/>
        </p:nvPicPr>
        <p:blipFill>
          <a:blip r:embed="rId3">
            <a:alphaModFix/>
          </a:blip>
          <a:stretch>
            <a:fillRect/>
          </a:stretch>
        </p:blipFill>
        <p:spPr>
          <a:xfrm>
            <a:off x="2804275" y="2826413"/>
            <a:ext cx="2381250" cy="1914525"/>
          </a:xfrm>
          <a:prstGeom prst="rect">
            <a:avLst/>
          </a:prstGeom>
          <a:noFill/>
          <a:ln>
            <a:noFill/>
          </a:ln>
        </p:spPr>
      </p:pic>
    </p:spTree>
  </p:cSld>
  <p:clrMapOvr>
    <a:masterClrMapping/>
  </p:clrMapOvr>
  <p:transition spd="med">
    <p:push dir="r"/>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24"/>
          <p:cNvPicPr preferRelativeResize="0"/>
          <p:nvPr/>
        </p:nvPicPr>
        <p:blipFill rotWithShape="1">
          <a:blip r:embed="rId3">
            <a:alphaModFix/>
          </a:blip>
          <a:srcRect b="0" l="0" r="0" t="17108"/>
          <a:stretch/>
        </p:blipFill>
        <p:spPr>
          <a:xfrm>
            <a:off x="977598" y="295200"/>
            <a:ext cx="6597001" cy="3240600"/>
          </a:xfrm>
          <a:prstGeom prst="rect">
            <a:avLst/>
          </a:prstGeom>
          <a:noFill/>
          <a:ln>
            <a:noFill/>
          </a:ln>
        </p:spPr>
      </p:pic>
      <p:pic>
        <p:nvPicPr>
          <p:cNvPr id="162" name="Google Shape;162;p24"/>
          <p:cNvPicPr preferRelativeResize="0"/>
          <p:nvPr/>
        </p:nvPicPr>
        <p:blipFill>
          <a:blip r:embed="rId4">
            <a:alphaModFix/>
          </a:blip>
          <a:stretch>
            <a:fillRect/>
          </a:stretch>
        </p:blipFill>
        <p:spPr>
          <a:xfrm>
            <a:off x="38100" y="3607850"/>
            <a:ext cx="9105900" cy="1219200"/>
          </a:xfrm>
          <a:prstGeom prst="rect">
            <a:avLst/>
          </a:prstGeom>
          <a:noFill/>
          <a:ln>
            <a:noFill/>
          </a:ln>
        </p:spPr>
      </p:pic>
    </p:spTree>
  </p:cSld>
  <p:clrMapOvr>
    <a:masterClrMapping/>
  </p:clrMapOvr>
  <mc:AlternateContent>
    <mc:Choice Requires="p14">
      <p:transition spd="med">
        <p14:flip dir="l"/>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Justificación</a:t>
            </a:r>
            <a:r>
              <a:rPr lang="es"/>
              <a:t> de </a:t>
            </a:r>
            <a:r>
              <a:rPr lang="es"/>
              <a:t>parámetros</a:t>
            </a:r>
            <a:r>
              <a:rPr lang="es"/>
              <a:t>.</a:t>
            </a:r>
            <a:endParaRPr/>
          </a:p>
        </p:txBody>
      </p:sp>
      <p:sp>
        <p:nvSpPr>
          <p:cNvPr id="168" name="Google Shape;168;p2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Kmeans y Kmeans++:</a:t>
            </a:r>
            <a:endParaRPr/>
          </a:p>
          <a:p>
            <a:pPr indent="0" lvl="0" marL="0" rtl="0" algn="l">
              <a:spcBef>
                <a:spcPts val="1200"/>
              </a:spcBef>
              <a:spcAft>
                <a:spcPts val="0"/>
              </a:spcAft>
              <a:buNone/>
            </a:pPr>
            <a:r>
              <a:rPr lang="es"/>
              <a:t>n_clusters: 3 5 7 9 -&gt; cantidades no muy grandes, debido a la pequeña cantidad de clases de etiqueta.</a:t>
            </a:r>
            <a:endParaRPr/>
          </a:p>
          <a:p>
            <a:pPr indent="0" lvl="0" marL="0" rtl="0" algn="l">
              <a:spcBef>
                <a:spcPts val="1200"/>
              </a:spcBef>
              <a:spcAft>
                <a:spcPts val="0"/>
              </a:spcAft>
              <a:buNone/>
            </a:pPr>
            <a:r>
              <a:rPr lang="es"/>
              <a:t>n_init y max iter -&gt; solo reducen el caos, y mejoran la convergencia, valores muy altos no ayudan en nada, y valores muy bajos hacen que el proceso no funcione, estos rondan los 300-500 en los </a:t>
            </a:r>
            <a:r>
              <a:rPr lang="es"/>
              <a:t>parámetros</a:t>
            </a:r>
            <a:r>
              <a:rPr lang="es"/>
              <a:t> utilizados.</a:t>
            </a:r>
            <a:endParaRPr/>
          </a:p>
          <a:p>
            <a:pPr indent="0" lvl="0" marL="0" rtl="0" algn="l">
              <a:spcBef>
                <a:spcPts val="1200"/>
              </a:spcBef>
              <a:spcAft>
                <a:spcPts val="0"/>
              </a:spcAft>
              <a:buNone/>
            </a:pPr>
            <a:r>
              <a:rPr lang="es"/>
              <a:t>Meanshift:</a:t>
            </a:r>
            <a:endParaRPr/>
          </a:p>
          <a:p>
            <a:pPr indent="0" lvl="0" marL="0" rtl="0" algn="l">
              <a:spcBef>
                <a:spcPts val="1200"/>
              </a:spcBef>
              <a:spcAft>
                <a:spcPts val="1200"/>
              </a:spcAft>
              <a:buNone/>
            </a:pPr>
            <a:r>
              <a:rPr lang="es"/>
              <a:t>bandwith -&gt; se calcula el </a:t>
            </a:r>
            <a:r>
              <a:rPr lang="es"/>
              <a:t>quantil</a:t>
            </a:r>
            <a:r>
              <a:rPr lang="es"/>
              <a:t> 0.2, y se usa como base,</a:t>
            </a:r>
            <a:br>
              <a:rPr lang="es"/>
            </a:br>
            <a:r>
              <a:rPr lang="es"/>
              <a:t>Utilizando este valor con diferentes factores: 0.5, 1, 1.5 y 2.</a:t>
            </a:r>
            <a:endParaRPr/>
          </a:p>
        </p:txBody>
      </p:sp>
    </p:spTree>
  </p:cSld>
  <p:clrMapOvr>
    <a:masterClrMapping/>
  </p:clrMapOvr>
  <mc:AlternateContent>
    <mc:Choice Requires="p14">
      <p:transition spd="med">
        <p14:prism dir="l"/>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Evaluación</a:t>
            </a:r>
            <a:r>
              <a:rPr lang="es"/>
              <a:t> global de las 12 configuraciones</a:t>
            </a:r>
            <a:endParaRPr/>
          </a:p>
        </p:txBody>
      </p:sp>
      <p:sp>
        <p:nvSpPr>
          <p:cNvPr id="174" name="Google Shape;174;p2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Se toman los 12 modelos entrenados y se ordenan en base a su puntaje de silhouette, obteniendo </a:t>
            </a:r>
            <a:r>
              <a:rPr lang="es"/>
              <a:t>así</a:t>
            </a:r>
            <a:r>
              <a:rPr lang="es"/>
              <a:t> un top 3.</a:t>
            </a:r>
            <a:endParaRPr/>
          </a:p>
          <a:p>
            <a:pPr indent="0" lvl="0" marL="0" rtl="0" algn="l">
              <a:spcBef>
                <a:spcPts val="1200"/>
              </a:spcBef>
              <a:spcAft>
                <a:spcPts val="1200"/>
              </a:spcAft>
              <a:buNone/>
            </a:pPr>
            <a:r>
              <a:rPr lang="es"/>
              <a:t>Luego se comparan estos 3 mejores modelos, con el resto de datos (20%), para obtener la </a:t>
            </a:r>
            <a:r>
              <a:rPr lang="es"/>
              <a:t>precisión</a:t>
            </a:r>
            <a:r>
              <a:rPr lang="es"/>
              <a:t> de cada modelo.</a:t>
            </a:r>
            <a:endParaRPr/>
          </a:p>
        </p:txBody>
      </p:sp>
    </p:spTree>
  </p:cSld>
  <p:clrMapOvr>
    <a:masterClrMapping/>
  </p:clrMapOvr>
  <mc:AlternateContent>
    <mc:Choice Requires="p14">
      <p:transition spd="med">
        <p14:gallery dir="l"/>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27"/>
          <p:cNvPicPr preferRelativeResize="0"/>
          <p:nvPr/>
        </p:nvPicPr>
        <p:blipFill rotWithShape="1">
          <a:blip r:embed="rId3">
            <a:alphaModFix/>
          </a:blip>
          <a:srcRect b="0" l="0" r="0" t="16128"/>
          <a:stretch/>
        </p:blipFill>
        <p:spPr>
          <a:xfrm>
            <a:off x="690400" y="346275"/>
            <a:ext cx="7820951" cy="4313901"/>
          </a:xfrm>
          <a:prstGeom prst="rect">
            <a:avLst/>
          </a:prstGeom>
          <a:noFill/>
          <a:ln>
            <a:noFill/>
          </a:ln>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8"/>
          <p:cNvPicPr preferRelativeResize="0"/>
          <p:nvPr/>
        </p:nvPicPr>
        <p:blipFill>
          <a:blip r:embed="rId3">
            <a:alphaModFix/>
          </a:blip>
          <a:stretch>
            <a:fillRect/>
          </a:stretch>
        </p:blipFill>
        <p:spPr>
          <a:xfrm>
            <a:off x="0" y="1263399"/>
            <a:ext cx="9144000" cy="2754752"/>
          </a:xfrm>
          <a:prstGeom prst="rect">
            <a:avLst/>
          </a:prstGeom>
          <a:noFill/>
          <a:ln>
            <a:noFill/>
          </a:ln>
        </p:spPr>
      </p:pic>
    </p:spTree>
  </p:cSld>
  <p:clrMapOvr>
    <a:masterClrMapping/>
  </p:clrMapOvr>
  <p:transition spd="med">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Análisis</a:t>
            </a:r>
            <a:r>
              <a:rPr lang="es"/>
              <a:t> de resultados</a:t>
            </a:r>
            <a:endParaRPr/>
          </a:p>
        </p:txBody>
      </p:sp>
      <p:sp>
        <p:nvSpPr>
          <p:cNvPr id="190" name="Google Shape;190;p29"/>
          <p:cNvSpPr txBox="1"/>
          <p:nvPr>
            <p:ph idx="1" type="body"/>
          </p:nvPr>
        </p:nvSpPr>
        <p:spPr>
          <a:xfrm>
            <a:off x="311700" y="1287575"/>
            <a:ext cx="8236800" cy="24780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s"/>
              <a:t>Estos datos, demuestran </a:t>
            </a:r>
            <a:r>
              <a:rPr lang="es"/>
              <a:t>cómo</a:t>
            </a:r>
            <a:r>
              <a:rPr lang="es"/>
              <a:t> el modelo </a:t>
            </a:r>
            <a:r>
              <a:rPr lang="es"/>
              <a:t>está</a:t>
            </a:r>
            <a:r>
              <a:rPr lang="es"/>
              <a:t> funcionando correctamente, siendo capaz de predecir hasta cierto punto el resultado, llegando hasta casi un 50/50 en el TOP1 y TOP2, y con un 64% en el mejor caso.</a:t>
            </a:r>
            <a:endParaRPr/>
          </a:p>
          <a:p>
            <a:pPr indent="0" lvl="0" marL="0" rtl="0" algn="l">
              <a:spcBef>
                <a:spcPts val="1200"/>
              </a:spcBef>
              <a:spcAft>
                <a:spcPts val="0"/>
              </a:spcAft>
              <a:buNone/>
            </a:pPr>
            <a:r>
              <a:rPr lang="es"/>
              <a:t>Teniendo en cuenta que la etiqueta tiene 7 clases, estos modelos permiten pasar de un 14% de </a:t>
            </a:r>
            <a:r>
              <a:rPr lang="es"/>
              <a:t>éxito</a:t>
            </a:r>
            <a:r>
              <a:rPr lang="es"/>
              <a:t> (</a:t>
            </a:r>
            <a:r>
              <a:rPr lang="es"/>
              <a:t>selección</a:t>
            </a:r>
            <a:r>
              <a:rPr lang="es"/>
              <a:t> aleatoria) a un 49% o 64%, </a:t>
            </a:r>
            <a:r>
              <a:rPr lang="es"/>
              <a:t>según</a:t>
            </a:r>
            <a:r>
              <a:rPr lang="es"/>
              <a:t> el modelo utilizado.</a:t>
            </a:r>
            <a:endParaRPr/>
          </a:p>
          <a:p>
            <a:pPr indent="0" lvl="0" marL="0" rtl="0" algn="l">
              <a:spcBef>
                <a:spcPts val="1200"/>
              </a:spcBef>
              <a:spcAft>
                <a:spcPts val="0"/>
              </a:spcAft>
              <a:buNone/>
            </a:pPr>
            <a:r>
              <a:rPr lang="es"/>
              <a:t>Ahora, respondiendo la pregunta ¿Este procedimiento resulta razonable para asignar etiquetas faltantes?</a:t>
            </a:r>
            <a:endParaRPr/>
          </a:p>
          <a:p>
            <a:pPr indent="0" lvl="0" marL="0" rtl="0" algn="l">
              <a:spcBef>
                <a:spcPts val="1200"/>
              </a:spcBef>
              <a:spcAft>
                <a:spcPts val="1200"/>
              </a:spcAft>
              <a:buNone/>
            </a:pPr>
            <a:r>
              <a:rPr lang="es"/>
              <a:t>La respuesta es un depende, ya que en el mejor de los casos, se obtuvo solo un rendimiento del 64%, lo que no se puede considerar demasiado </a:t>
            </a:r>
            <a:r>
              <a:rPr lang="es"/>
              <a:t>confiable</a:t>
            </a:r>
            <a:r>
              <a:rPr lang="es"/>
              <a:t>, por ende, se </a:t>
            </a:r>
            <a:r>
              <a:rPr lang="es"/>
              <a:t>debería</a:t>
            </a:r>
            <a:r>
              <a:rPr lang="es"/>
              <a:t> buscar un </a:t>
            </a:r>
            <a:r>
              <a:rPr lang="es"/>
              <a:t>método</a:t>
            </a:r>
            <a:r>
              <a:rPr lang="es"/>
              <a:t> algo </a:t>
            </a:r>
            <a:r>
              <a:rPr lang="es"/>
              <a:t>más</a:t>
            </a:r>
            <a:r>
              <a:rPr lang="es"/>
              <a:t> exacto (rondando el 85+% de aciertos) para que sea razonable de aplicar, en caso de no tener disponible otro </a:t>
            </a:r>
            <a:r>
              <a:rPr lang="es"/>
              <a:t>método</a:t>
            </a:r>
            <a:r>
              <a:rPr lang="es"/>
              <a:t>, si es razonable el utilizarlo, ya que al ser un 64%, el modelo permite predecir la </a:t>
            </a:r>
            <a:r>
              <a:rPr lang="es"/>
              <a:t>mayoría</a:t>
            </a:r>
            <a:r>
              <a:rPr lang="es"/>
              <a:t> de situaciones, en vez de un modelo puramente aleatorio con un 14%.</a:t>
            </a:r>
            <a:endParaRPr/>
          </a:p>
        </p:txBody>
      </p:sp>
      <p:pic>
        <p:nvPicPr>
          <p:cNvPr id="191" name="Google Shape;191;p29"/>
          <p:cNvPicPr preferRelativeResize="0"/>
          <p:nvPr/>
        </p:nvPicPr>
        <p:blipFill>
          <a:blip r:embed="rId3">
            <a:alphaModFix/>
          </a:blip>
          <a:stretch>
            <a:fillRect/>
          </a:stretch>
        </p:blipFill>
        <p:spPr>
          <a:xfrm>
            <a:off x="7284300" y="4035350"/>
            <a:ext cx="708675" cy="708675"/>
          </a:xfrm>
          <a:prstGeom prst="rect">
            <a:avLst/>
          </a:prstGeom>
          <a:noFill/>
          <a:ln>
            <a:noFill/>
          </a:ln>
        </p:spPr>
      </p:pic>
    </p:spTree>
  </p:cSld>
  <p:clrMapOvr>
    <a:masterClrMapping/>
  </p:clrMapOvr>
  <p:transition spd="med">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Punto 2</a:t>
            </a:r>
            <a:endParaRPr/>
          </a:p>
        </p:txBody>
      </p:sp>
      <p:sp>
        <p:nvSpPr>
          <p:cNvPr id="197" name="Google Shape;197;p30"/>
          <p:cNvSpPr txBox="1"/>
          <p:nvPr>
            <p:ph idx="1" type="body"/>
          </p:nvPr>
        </p:nvSpPr>
        <p:spPr>
          <a:xfrm>
            <a:off x="311700" y="1229875"/>
            <a:ext cx="8520600" cy="26511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s"/>
              <a:t>Utilizando el mismo conjunto de datos previamente seleccionado, diseñe e implemente una técnica que permita entrenar en paralelo múltiples instancias (al menos tres por técnica) de Regresión Logística y SVM, variando sus hiperparámetros (por ejemplo: batch size, tasa de aprendizaje, etc, según sea el caso). </a:t>
            </a:r>
            <a:endParaRPr/>
          </a:p>
          <a:p>
            <a:pPr indent="0" lvl="0" marL="0" rtl="0" algn="l">
              <a:spcBef>
                <a:spcPts val="1200"/>
              </a:spcBef>
              <a:spcAft>
                <a:spcPts val="0"/>
              </a:spcAft>
              <a:buNone/>
            </a:pPr>
            <a:r>
              <a:rPr lang="es"/>
              <a:t>Los parámetros de cada configuración deberán definirse en un archivo de configuración externo, y el entrenamiento deberá realizarse utilizando el 80% de los datos. </a:t>
            </a:r>
            <a:endParaRPr/>
          </a:p>
          <a:p>
            <a:pPr indent="0" lvl="0" marL="0" rtl="0" algn="l">
              <a:spcBef>
                <a:spcPts val="1200"/>
              </a:spcBef>
              <a:spcAft>
                <a:spcPts val="0"/>
              </a:spcAft>
              <a:buNone/>
            </a:pPr>
            <a:r>
              <a:rPr lang="es"/>
              <a:t>Cada modelo se evaluará periódicamente (solo con datos de entrenamiento), y por cada cinco épocas deberá descartarse la configuración con peor desempeño entre todas las configuraciones restantes. Para las dos mejores configuraciones, presente métricas de evaluación utilizando el conjunto de testing, es decir, el 20% de los datos. </a:t>
            </a:r>
            <a:endParaRPr/>
          </a:p>
          <a:p>
            <a:pPr indent="0" lvl="0" marL="0" rtl="0" algn="l">
              <a:spcBef>
                <a:spcPts val="1200"/>
              </a:spcBef>
              <a:spcAft>
                <a:spcPts val="1200"/>
              </a:spcAft>
              <a:buNone/>
            </a:pPr>
            <a:r>
              <a:rPr lang="es"/>
              <a:t>Analice los resultados obtenidos en función de los hiperparámetros seleccionados.</a:t>
            </a:r>
            <a:endParaRPr/>
          </a:p>
        </p:txBody>
      </p:sp>
    </p:spTree>
  </p:cSld>
  <p:clrMapOvr>
    <a:masterClrMapping/>
  </p:clrMapOvr>
  <p:transition spd="med">
    <p:push dir="r"/>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Archivo config.json</a:t>
            </a:r>
            <a:endParaRPr/>
          </a:p>
        </p:txBody>
      </p:sp>
      <p:pic>
        <p:nvPicPr>
          <p:cNvPr id="203" name="Google Shape;203;p31"/>
          <p:cNvPicPr preferRelativeResize="0"/>
          <p:nvPr/>
        </p:nvPicPr>
        <p:blipFill>
          <a:blip r:embed="rId3">
            <a:alphaModFix/>
          </a:blip>
          <a:stretch>
            <a:fillRect/>
          </a:stretch>
        </p:blipFill>
        <p:spPr>
          <a:xfrm>
            <a:off x="1694875" y="1229876"/>
            <a:ext cx="2407028" cy="3563126"/>
          </a:xfrm>
          <a:prstGeom prst="rect">
            <a:avLst/>
          </a:prstGeom>
          <a:noFill/>
          <a:ln>
            <a:noFill/>
          </a:ln>
        </p:spPr>
      </p:pic>
      <p:pic>
        <p:nvPicPr>
          <p:cNvPr id="204" name="Google Shape;204;p31"/>
          <p:cNvPicPr preferRelativeResize="0"/>
          <p:nvPr/>
        </p:nvPicPr>
        <p:blipFill>
          <a:blip r:embed="rId4">
            <a:alphaModFix/>
          </a:blip>
          <a:stretch>
            <a:fillRect/>
          </a:stretch>
        </p:blipFill>
        <p:spPr>
          <a:xfrm>
            <a:off x="4901900" y="1229875"/>
            <a:ext cx="2325741" cy="3563126"/>
          </a:xfrm>
          <a:prstGeom prst="rect">
            <a:avLst/>
          </a:prstGeom>
          <a:noFill/>
          <a:ln>
            <a:noFill/>
          </a:ln>
        </p:spPr>
      </p:pic>
    </p:spTree>
  </p:cSld>
  <p:clrMapOvr>
    <a:masterClrMapping/>
  </p:clrMapOvr>
  <mc:AlternateContent>
    <mc:Choice Requires="p14">
      <p:transition spd="med">
        <p14:flip dir="l"/>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Cargar configuración</a:t>
            </a:r>
            <a:endParaRPr/>
          </a:p>
        </p:txBody>
      </p:sp>
      <p:pic>
        <p:nvPicPr>
          <p:cNvPr id="210" name="Google Shape;210;p32"/>
          <p:cNvPicPr preferRelativeResize="0"/>
          <p:nvPr/>
        </p:nvPicPr>
        <p:blipFill rotWithShape="1">
          <a:blip r:embed="rId3">
            <a:alphaModFix/>
          </a:blip>
          <a:srcRect b="0" l="0" r="36728" t="0"/>
          <a:stretch/>
        </p:blipFill>
        <p:spPr>
          <a:xfrm>
            <a:off x="158725" y="1529575"/>
            <a:ext cx="8931026" cy="1925900"/>
          </a:xfrm>
          <a:prstGeom prst="rect">
            <a:avLst/>
          </a:prstGeom>
          <a:noFill/>
          <a:ln>
            <a:noFill/>
          </a:ln>
        </p:spPr>
      </p:pic>
    </p:spTree>
  </p:cSld>
  <p:clrMapOvr>
    <a:masterClrMapping/>
  </p:clrMapOvr>
  <mc:AlternateContent>
    <mc:Choice Requires="p14">
      <p:transition spd="med">
        <p14:prism dir="l"/>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Procedimiento</a:t>
            </a:r>
            <a:endParaRPr/>
          </a:p>
        </p:txBody>
      </p:sp>
      <p:sp>
        <p:nvSpPr>
          <p:cNvPr id="216" name="Google Shape;216;p3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Se subdivide el dataset para poder entrenar las diferentes configuraciones.</a:t>
            </a:r>
            <a:endParaRPr/>
          </a:p>
          <a:p>
            <a:pPr indent="0" lvl="0" marL="0" rtl="0" algn="l">
              <a:spcBef>
                <a:spcPts val="1200"/>
              </a:spcBef>
              <a:spcAft>
                <a:spcPts val="0"/>
              </a:spcAft>
              <a:buNone/>
            </a:pPr>
            <a:r>
              <a:rPr lang="es"/>
              <a:t>Luego, se crean los modelos con los </a:t>
            </a:r>
            <a:r>
              <a:rPr lang="es"/>
              <a:t>parámetros</a:t>
            </a:r>
            <a:r>
              <a:rPr lang="es"/>
              <a:t> de la </a:t>
            </a:r>
            <a:r>
              <a:rPr lang="es"/>
              <a:t>configuración</a:t>
            </a:r>
            <a:r>
              <a:rPr lang="es"/>
              <a:t>.</a:t>
            </a:r>
            <a:endParaRPr/>
          </a:p>
          <a:p>
            <a:pPr indent="0" lvl="0" marL="0" rtl="0" algn="l">
              <a:spcBef>
                <a:spcPts val="1200"/>
              </a:spcBef>
              <a:spcAft>
                <a:spcPts val="0"/>
              </a:spcAft>
              <a:buNone/>
            </a:pPr>
            <a:r>
              <a:rPr lang="es"/>
              <a:t>Se inicializan los </a:t>
            </a:r>
            <a:r>
              <a:rPr lang="es"/>
              <a:t>parámetros</a:t>
            </a:r>
            <a:r>
              <a:rPr lang="es"/>
              <a:t> (pesos) para las funciones de </a:t>
            </a:r>
            <a:r>
              <a:rPr lang="es"/>
              <a:t>regresión</a:t>
            </a:r>
            <a:r>
              <a:rPr lang="es"/>
              <a:t>.</a:t>
            </a:r>
            <a:endParaRPr/>
          </a:p>
          <a:p>
            <a:pPr indent="0" lvl="0" marL="0" rtl="0" algn="l">
              <a:spcBef>
                <a:spcPts val="1200"/>
              </a:spcBef>
              <a:spcAft>
                <a:spcPts val="0"/>
              </a:spcAft>
              <a:buNone/>
            </a:pPr>
            <a:r>
              <a:rPr lang="es"/>
              <a:t>Finalmente, se entrenan todos en paralelo, </a:t>
            </a:r>
            <a:r>
              <a:rPr lang="es"/>
              <a:t>asignándoles</a:t>
            </a:r>
            <a:r>
              <a:rPr lang="es"/>
              <a:t> valores, y eliminando al peor en cada ronda, hasta que solo queden 2.</a:t>
            </a:r>
            <a:endParaRPr/>
          </a:p>
          <a:p>
            <a:pPr indent="0" lvl="0" marL="0" rtl="0" algn="l">
              <a:spcBef>
                <a:spcPts val="1200"/>
              </a:spcBef>
              <a:spcAft>
                <a:spcPts val="1200"/>
              </a:spcAft>
              <a:buNone/>
            </a:pPr>
            <a:r>
              <a:t/>
            </a:r>
            <a:endParaRPr/>
          </a:p>
        </p:txBody>
      </p:sp>
    </p:spTree>
  </p:cSld>
  <p:clrMapOvr>
    <a:masterClrMapping/>
  </p:clrMapOvr>
  <mc:AlternateContent>
    <mc:Choice Requires="p14">
      <p:transition spd="med">
        <p14:gallery dir="l"/>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4"/>
          <p:cNvPicPr preferRelativeResize="0"/>
          <p:nvPr/>
        </p:nvPicPr>
        <p:blipFill rotWithShape="1">
          <a:blip r:embed="rId3">
            <a:alphaModFix/>
          </a:blip>
          <a:srcRect b="0" l="0" r="46825" t="0"/>
          <a:stretch/>
        </p:blipFill>
        <p:spPr>
          <a:xfrm>
            <a:off x="2106450" y="240925"/>
            <a:ext cx="4862150" cy="4661650"/>
          </a:xfrm>
          <a:prstGeom prst="rect">
            <a:avLst/>
          </a:prstGeom>
          <a:noFill/>
          <a:ln>
            <a:noFill/>
          </a:ln>
        </p:spPr>
      </p:pic>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35"/>
          <p:cNvPicPr preferRelativeResize="0"/>
          <p:nvPr/>
        </p:nvPicPr>
        <p:blipFill rotWithShape="1">
          <a:blip r:embed="rId3">
            <a:alphaModFix/>
          </a:blip>
          <a:srcRect b="0" l="0" r="31205" t="0"/>
          <a:stretch/>
        </p:blipFill>
        <p:spPr>
          <a:xfrm>
            <a:off x="1426750" y="1138575"/>
            <a:ext cx="6290501" cy="2866350"/>
          </a:xfrm>
          <a:prstGeom prst="rect">
            <a:avLst/>
          </a:prstGeom>
          <a:noFill/>
          <a:ln>
            <a:noFill/>
          </a:ln>
        </p:spPr>
      </p:pic>
    </p:spTree>
  </p:cSld>
  <p:clrMapOvr>
    <a:masterClrMapping/>
  </p:clrMapOvr>
  <p:transition spd="med">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36"/>
          <p:cNvPicPr preferRelativeResize="0"/>
          <p:nvPr/>
        </p:nvPicPr>
        <p:blipFill rotWithShape="1">
          <a:blip r:embed="rId3">
            <a:alphaModFix/>
          </a:blip>
          <a:srcRect b="0" l="0" r="9714" t="0"/>
          <a:stretch/>
        </p:blipFill>
        <p:spPr>
          <a:xfrm>
            <a:off x="916188" y="0"/>
            <a:ext cx="7311624" cy="5143500"/>
          </a:xfrm>
          <a:prstGeom prst="rect">
            <a:avLst/>
          </a:prstGeom>
          <a:noFill/>
          <a:ln>
            <a:noFill/>
          </a:ln>
        </p:spPr>
      </p:pic>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Resultados</a:t>
            </a:r>
            <a:endParaRPr/>
          </a:p>
        </p:txBody>
      </p:sp>
      <p:sp>
        <p:nvSpPr>
          <p:cNvPr id="237" name="Google Shape;237;p3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
              <a:t>Ganadores: SVM_A y SVM_B</a:t>
            </a:r>
            <a:endParaRPr/>
          </a:p>
        </p:txBody>
      </p:sp>
      <p:pic>
        <p:nvPicPr>
          <p:cNvPr id="238" name="Google Shape;238;p37"/>
          <p:cNvPicPr preferRelativeResize="0"/>
          <p:nvPr/>
        </p:nvPicPr>
        <p:blipFill rotWithShape="1">
          <a:blip r:embed="rId3">
            <a:alphaModFix/>
          </a:blip>
          <a:srcRect b="49894" l="0" r="0" t="0"/>
          <a:stretch/>
        </p:blipFill>
        <p:spPr>
          <a:xfrm>
            <a:off x="225125" y="1425588"/>
            <a:ext cx="4260300" cy="2292333"/>
          </a:xfrm>
          <a:prstGeom prst="rect">
            <a:avLst/>
          </a:prstGeom>
          <a:noFill/>
          <a:ln>
            <a:noFill/>
          </a:ln>
        </p:spPr>
      </p:pic>
      <p:pic>
        <p:nvPicPr>
          <p:cNvPr id="239" name="Google Shape;239;p37"/>
          <p:cNvPicPr preferRelativeResize="0"/>
          <p:nvPr/>
        </p:nvPicPr>
        <p:blipFill rotWithShape="1">
          <a:blip r:embed="rId3">
            <a:alphaModFix/>
          </a:blip>
          <a:srcRect b="0" l="0" r="0" t="50000"/>
          <a:stretch/>
        </p:blipFill>
        <p:spPr>
          <a:xfrm>
            <a:off x="4600306" y="1425600"/>
            <a:ext cx="4347419" cy="2334175"/>
          </a:xfrm>
          <a:prstGeom prst="rect">
            <a:avLst/>
          </a:prstGeom>
          <a:noFill/>
          <a:ln>
            <a:noFill/>
          </a:ln>
        </p:spPr>
      </p:pic>
    </p:spTree>
  </p:cSld>
  <p:clrMapOvr>
    <a:masterClrMapping/>
  </p:clrMapOvr>
  <p:transition spd="med">
    <p:push dir="r"/>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Evaluación</a:t>
            </a:r>
            <a:r>
              <a:rPr lang="es"/>
              <a:t> de los ganadores</a:t>
            </a:r>
            <a:endParaRPr/>
          </a:p>
        </p:txBody>
      </p:sp>
      <p:sp>
        <p:nvSpPr>
          <p:cNvPr id="245" name="Google Shape;245;p3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Teniendo los 2 finalistas, se </a:t>
            </a:r>
            <a:r>
              <a:rPr lang="es"/>
              <a:t>evalúan</a:t>
            </a:r>
            <a:r>
              <a:rPr lang="es"/>
              <a:t> utilizando el resto de los datos (20%), para obtener diferentes </a:t>
            </a:r>
            <a:r>
              <a:rPr lang="es"/>
              <a:t>parámetros</a:t>
            </a:r>
            <a:r>
              <a:rPr lang="es"/>
              <a:t>, como el accuracy, y el f1 score.</a:t>
            </a:r>
            <a:endParaRPr/>
          </a:p>
        </p:txBody>
      </p:sp>
      <p:pic>
        <p:nvPicPr>
          <p:cNvPr id="246" name="Google Shape;246;p38"/>
          <p:cNvPicPr preferRelativeResize="0"/>
          <p:nvPr/>
        </p:nvPicPr>
        <p:blipFill>
          <a:blip r:embed="rId3">
            <a:alphaModFix/>
          </a:blip>
          <a:stretch>
            <a:fillRect/>
          </a:stretch>
        </p:blipFill>
        <p:spPr>
          <a:xfrm>
            <a:off x="0" y="2044290"/>
            <a:ext cx="9144000" cy="2843971"/>
          </a:xfrm>
          <a:prstGeom prst="rect">
            <a:avLst/>
          </a:prstGeom>
          <a:noFill/>
          <a:ln>
            <a:noFill/>
          </a:ln>
        </p:spPr>
      </p:pic>
    </p:spTree>
  </p:cSld>
  <p:clrMapOvr>
    <a:masterClrMapping/>
  </p:clrMapOvr>
  <mc:AlternateContent>
    <mc:Choice Requires="p14">
      <p:transition spd="med">
        <p14:flip dir="l"/>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39"/>
          <p:cNvPicPr preferRelativeResize="0"/>
          <p:nvPr/>
        </p:nvPicPr>
        <p:blipFill rotWithShape="1">
          <a:blip r:embed="rId3">
            <a:alphaModFix/>
          </a:blip>
          <a:srcRect b="20898" l="0" r="0" t="0"/>
          <a:stretch/>
        </p:blipFill>
        <p:spPr>
          <a:xfrm>
            <a:off x="1201700" y="446075"/>
            <a:ext cx="3263500" cy="4068625"/>
          </a:xfrm>
          <a:prstGeom prst="rect">
            <a:avLst/>
          </a:prstGeom>
          <a:noFill/>
          <a:ln>
            <a:noFill/>
          </a:ln>
        </p:spPr>
      </p:pic>
      <p:pic>
        <p:nvPicPr>
          <p:cNvPr id="252" name="Google Shape;252;p39"/>
          <p:cNvPicPr preferRelativeResize="0"/>
          <p:nvPr/>
        </p:nvPicPr>
        <p:blipFill rotWithShape="1">
          <a:blip r:embed="rId3">
            <a:alphaModFix/>
          </a:blip>
          <a:srcRect b="0" l="0" r="0" t="79084"/>
          <a:stretch/>
        </p:blipFill>
        <p:spPr>
          <a:xfrm>
            <a:off x="5040425" y="2033862"/>
            <a:ext cx="3263500" cy="1075776"/>
          </a:xfrm>
          <a:prstGeom prst="rect">
            <a:avLst/>
          </a:prstGeom>
          <a:noFill/>
          <a:ln>
            <a:noFill/>
          </a:ln>
        </p:spPr>
      </p:pic>
    </p:spTree>
  </p:cSld>
  <p:clrMapOvr>
    <a:masterClrMapping/>
  </p:clrMapOvr>
  <mc:AlternateContent>
    <mc:Choice Requires="p14">
      <p:transition spd="med">
        <p14:prism dir="l"/>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Análisis</a:t>
            </a:r>
            <a:r>
              <a:rPr lang="es"/>
              <a:t> de resultados</a:t>
            </a:r>
            <a:endParaRPr/>
          </a:p>
        </p:txBody>
      </p:sp>
      <p:sp>
        <p:nvSpPr>
          <p:cNvPr id="258" name="Google Shape;258;p40"/>
          <p:cNvSpPr txBox="1"/>
          <p:nvPr>
            <p:ph idx="1" type="body"/>
          </p:nvPr>
        </p:nvSpPr>
        <p:spPr>
          <a:xfrm>
            <a:off x="311700" y="1229875"/>
            <a:ext cx="8520600" cy="26511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s"/>
              <a:t>Los 2 mejores modelos de </a:t>
            </a:r>
            <a:r>
              <a:rPr lang="es"/>
              <a:t>regresión</a:t>
            </a:r>
            <a:r>
              <a:rPr lang="es"/>
              <a:t> fueron: smv_A y svm_B, ambos llegaron a un desempeño final muy similar de 70.4% y 71.4% de aciertos sobre el conjunto de prueba.</a:t>
            </a:r>
            <a:endParaRPr/>
          </a:p>
          <a:p>
            <a:pPr indent="0" lvl="0" marL="0" rtl="0" algn="l">
              <a:spcBef>
                <a:spcPts val="1200"/>
              </a:spcBef>
              <a:spcAft>
                <a:spcPts val="0"/>
              </a:spcAft>
              <a:buNone/>
            </a:pPr>
            <a:r>
              <a:rPr lang="es"/>
              <a:t>El modelo SVM_B </a:t>
            </a:r>
            <a:r>
              <a:rPr lang="es"/>
              <a:t>logró</a:t>
            </a:r>
            <a:r>
              <a:rPr lang="es"/>
              <a:t> un rendimiento ligeramente superior, especialmente la clase 2, que es la </a:t>
            </a:r>
            <a:r>
              <a:rPr lang="es"/>
              <a:t>más</a:t>
            </a:r>
            <a:r>
              <a:rPr lang="es"/>
              <a:t> representada en el conjunto de datos. Ambos modelos lograron identificar correctamente las clases </a:t>
            </a:r>
            <a:r>
              <a:rPr lang="es"/>
              <a:t>más</a:t>
            </a:r>
            <a:r>
              <a:rPr lang="es"/>
              <a:t> frecuentes (1, 2, 3), pero fallaron con las clases menos presentes (4, 5, 6), donde la cantidad de ejemplos disponibles fue demasiado baja para que se pudiera identificar </a:t>
            </a:r>
            <a:r>
              <a:rPr lang="es"/>
              <a:t>algún</a:t>
            </a:r>
            <a:r>
              <a:rPr lang="es"/>
              <a:t> </a:t>
            </a:r>
            <a:r>
              <a:rPr lang="es"/>
              <a:t>patrón</a:t>
            </a:r>
            <a:r>
              <a:rPr lang="es"/>
              <a:t> predictivo, las 3 </a:t>
            </a:r>
            <a:r>
              <a:rPr lang="es"/>
              <a:t>mejores</a:t>
            </a:r>
            <a:r>
              <a:rPr lang="es"/>
              <a:t> clases juntas, conforman alrededor de un 5% de los datos totales, lo que muestra un claro desbalance en el dataset utilizado.</a:t>
            </a:r>
            <a:endParaRPr/>
          </a:p>
          <a:p>
            <a:pPr indent="0" lvl="0" marL="0" rtl="0" algn="l">
              <a:spcBef>
                <a:spcPts val="1200"/>
              </a:spcBef>
              <a:spcAft>
                <a:spcPts val="0"/>
              </a:spcAft>
              <a:buNone/>
            </a:pPr>
            <a:r>
              <a:rPr lang="es"/>
              <a:t>El modelo SVM_A, aunque con una accuracy ligeramente menor, </a:t>
            </a:r>
            <a:r>
              <a:rPr lang="es"/>
              <a:t>mostró</a:t>
            </a:r>
            <a:r>
              <a:rPr lang="es"/>
              <a:t> en algunos casos, un puntaje f1 superior, lo que sugiere una convergencia </a:t>
            </a:r>
            <a:r>
              <a:rPr lang="es"/>
              <a:t>más</a:t>
            </a:r>
            <a:r>
              <a:rPr lang="es"/>
              <a:t> estable durante el entrenamiento para esas clases.</a:t>
            </a:r>
            <a:endParaRPr/>
          </a:p>
          <a:p>
            <a:pPr indent="0" lvl="0" marL="0" rtl="0" algn="l">
              <a:spcBef>
                <a:spcPts val="1200"/>
              </a:spcBef>
              <a:spcAft>
                <a:spcPts val="1200"/>
              </a:spcAft>
              <a:buNone/>
            </a:pPr>
            <a:r>
              <a:rPr lang="es"/>
              <a:t>En resumen, los resultados fueron coherentes con respecto a los datos utilizados y los </a:t>
            </a:r>
            <a:r>
              <a:rPr lang="es"/>
              <a:t>parámetros</a:t>
            </a:r>
            <a:r>
              <a:rPr lang="es"/>
              <a:t> seleccionados, donde este fue incapaz de converger a una </a:t>
            </a:r>
            <a:r>
              <a:rPr lang="es"/>
              <a:t>solución</a:t>
            </a:r>
            <a:r>
              <a:rPr lang="es"/>
              <a:t> para todas las clases de la etiqueta, debido a el desbalance del dataset utilizado, lo que muestra la importancia de aplicar </a:t>
            </a:r>
            <a:r>
              <a:rPr lang="es"/>
              <a:t>técnicas</a:t>
            </a:r>
            <a:r>
              <a:rPr lang="es"/>
              <a:t> de balanceo de datos o </a:t>
            </a:r>
            <a:r>
              <a:rPr lang="es"/>
              <a:t>ponderación</a:t>
            </a:r>
            <a:r>
              <a:rPr lang="es"/>
              <a:t> por clase en casos futuros.</a:t>
            </a:r>
            <a:endParaRPr/>
          </a:p>
        </p:txBody>
      </p:sp>
      <p:pic>
        <p:nvPicPr>
          <p:cNvPr id="259" name="Google Shape;259;p40"/>
          <p:cNvPicPr preferRelativeResize="0"/>
          <p:nvPr/>
        </p:nvPicPr>
        <p:blipFill>
          <a:blip r:embed="rId3">
            <a:alphaModFix/>
          </a:blip>
          <a:stretch>
            <a:fillRect/>
          </a:stretch>
        </p:blipFill>
        <p:spPr>
          <a:xfrm>
            <a:off x="7255475" y="3976750"/>
            <a:ext cx="806051" cy="806051"/>
          </a:xfrm>
          <a:prstGeom prst="rect">
            <a:avLst/>
          </a:prstGeom>
          <a:noFill/>
          <a:ln>
            <a:noFill/>
          </a:ln>
        </p:spPr>
      </p:pic>
    </p:spTree>
  </p:cSld>
  <p:clrMapOvr>
    <a:masterClrMapping/>
  </p:clrMapOvr>
  <mc:AlternateContent>
    <mc:Choice Requires="p14">
      <p:transition spd="med">
        <p14:gallery dir="l"/>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Uso de inteligencia artificial</a:t>
            </a:r>
            <a:endParaRPr/>
          </a:p>
        </p:txBody>
      </p:sp>
      <p:sp>
        <p:nvSpPr>
          <p:cNvPr id="265" name="Google Shape;265;p41"/>
          <p:cNvSpPr txBox="1"/>
          <p:nvPr>
            <p:ph idx="1" type="body"/>
          </p:nvPr>
        </p:nvSpPr>
        <p:spPr>
          <a:xfrm>
            <a:off x="311700" y="1229875"/>
            <a:ext cx="64332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Es necesario mencionar que para esta tarea se </a:t>
            </a:r>
            <a:r>
              <a:rPr lang="es"/>
              <a:t>utilizó</a:t>
            </a:r>
            <a:r>
              <a:rPr lang="es"/>
              <a:t> chat gpt para la </a:t>
            </a:r>
            <a:r>
              <a:rPr lang="es"/>
              <a:t>creación</a:t>
            </a:r>
            <a:r>
              <a:rPr lang="es"/>
              <a:t> del </a:t>
            </a:r>
            <a:r>
              <a:rPr lang="es"/>
              <a:t>código</a:t>
            </a:r>
            <a:r>
              <a:rPr lang="es"/>
              <a:t> inicial, luego este fue </a:t>
            </a:r>
            <a:r>
              <a:rPr lang="es"/>
              <a:t>debuggeando</a:t>
            </a:r>
            <a:r>
              <a:rPr lang="es"/>
              <a:t> a mano.</a:t>
            </a:r>
            <a:endParaRPr/>
          </a:p>
          <a:p>
            <a:pPr indent="0" lvl="0" marL="0" rtl="0" algn="l">
              <a:spcBef>
                <a:spcPts val="1200"/>
              </a:spcBef>
              <a:spcAft>
                <a:spcPts val="1200"/>
              </a:spcAft>
              <a:buNone/>
            </a:pPr>
            <a:r>
              <a:rPr lang="es"/>
              <a:t>Ningún</a:t>
            </a:r>
            <a:r>
              <a:rPr lang="es"/>
              <a:t> </a:t>
            </a:r>
            <a:r>
              <a:rPr lang="es"/>
              <a:t>área</a:t>
            </a:r>
            <a:r>
              <a:rPr lang="es"/>
              <a:t> del </a:t>
            </a:r>
            <a:r>
              <a:rPr lang="es"/>
              <a:t>análisis</a:t>
            </a:r>
            <a:r>
              <a:rPr lang="es"/>
              <a:t> fue generado utilizando dicha herramienta.</a:t>
            </a:r>
            <a:endParaRPr/>
          </a:p>
        </p:txBody>
      </p:sp>
      <p:pic>
        <p:nvPicPr>
          <p:cNvPr id="266" name="Google Shape;266;p41"/>
          <p:cNvPicPr preferRelativeResize="0"/>
          <p:nvPr/>
        </p:nvPicPr>
        <p:blipFill>
          <a:blip r:embed="rId3">
            <a:alphaModFix/>
          </a:blip>
          <a:stretch>
            <a:fillRect/>
          </a:stretch>
        </p:blipFill>
        <p:spPr>
          <a:xfrm>
            <a:off x="6862113" y="1593988"/>
            <a:ext cx="2143125" cy="2143125"/>
          </a:xfrm>
          <a:prstGeom prst="rect">
            <a:avLst/>
          </a:prstGeom>
          <a:noFill/>
          <a:ln>
            <a:noFill/>
          </a:ln>
        </p:spPr>
      </p:pic>
      <p:pic>
        <p:nvPicPr>
          <p:cNvPr id="267" name="Google Shape;267;p41"/>
          <p:cNvPicPr preferRelativeResize="0"/>
          <p:nvPr/>
        </p:nvPicPr>
        <p:blipFill>
          <a:blip r:embed="rId4">
            <a:alphaModFix/>
          </a:blip>
          <a:stretch>
            <a:fillRect/>
          </a:stretch>
        </p:blipFill>
        <p:spPr>
          <a:xfrm>
            <a:off x="7383627" y="4010900"/>
            <a:ext cx="579600" cy="772800"/>
          </a:xfrm>
          <a:prstGeom prst="rect">
            <a:avLst/>
          </a:prstGeom>
          <a:noFill/>
          <a:ln>
            <a:noFill/>
          </a:ln>
        </p:spPr>
      </p:pic>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